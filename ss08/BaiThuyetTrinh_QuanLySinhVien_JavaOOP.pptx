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F3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7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987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19" y="733245"/>
            <a:ext cx="10728655" cy="493430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78" y="1160246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THỰC HÀNH TỔNG HỢP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573882"/>
            <a:ext cx="99971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SINH VIÊN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5113" y="2306262"/>
            <a:ext cx="9997135" cy="869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CÀI ĐẶT LỚP, KHỞI TẠO ĐỐI TƯỢNG, THAO TÁC VỚI MẢNG ĐỐI TƯỢNG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3362566"/>
            <a:ext cx="48614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3476867"/>
            <a:ext cx="431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3772752"/>
            <a:ext cx="4312768" cy="10321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toàn diện OOP: class, object, constructor, encapsulation</a:t>
            </a:r>
          </a:p>
          <a:p>
            <a:pPr marL="160020" indent="-160020">
              <a:buSzPct val="100000"/>
              <a:buFontTx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tượng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khiển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4392168"/>
            <a:ext cx="4312768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48" y="3362566"/>
            <a:ext cx="4861408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70168" y="3476867"/>
            <a:ext cx="431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 ra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15888" y="3772751"/>
            <a:ext cx="4312768" cy="10321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quản lý sinh viên chạy menu (Console)</a:t>
            </a:r>
          </a:p>
          <a:p>
            <a:pPr marL="160020" indent="-160020">
              <a:buSzPct val="100000"/>
              <a:buFontTx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cáo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TB,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5888" y="4392168"/>
            <a:ext cx="4312768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853482"/>
            <a:ext cx="109115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thực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		•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CNTT2		•Ngày: 03/02/2026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&amp; Phạm vi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nội dung sẽ trình bày trong báo cáo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quản lý sinh viên trên Console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14728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dữ liệu bằng mảng đối tượng Student[]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37816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CRUD + tìm kiếm + sắp xếp + thống kê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1280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thức áp dụng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37960" y="1691640"/>
            <a:ext cx="46634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OOP: Class, Object, Constructor, Getter/Setter, this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014728"/>
            <a:ext cx="46634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Objects: thêm/xóa/sửa/tìm kiếm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337816"/>
            <a:ext cx="46634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Flow: if/else, switch-case, while/do-while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660904"/>
            <a:ext cx="46634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toán: Linear Search, Bubble/Selection Sort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38404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chính (FR1–FR8)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1560" y="4251960"/>
            <a:ext cx="10149840" cy="1639882"/>
          </a:xfrm>
          <a:prstGeom prst="rect">
            <a:avLst/>
          </a:prstGeom>
          <a:noFill/>
          <a:ln/>
        </p:spPr>
        <p:txBody>
          <a:bodyPr wrap="square" numCol="2" rtlCol="0" anchor="t"/>
          <a:lstStyle/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 Hiển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 Tìm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</a:t>
            </a: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ĐTB &amp;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</a:t>
            </a:r>
            <a:endParaRPr lang="en-US" sz="1400" dirty="0"/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575048"/>
            <a:ext cx="101498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>
            <a:extLst>
              <a:ext uri="{FF2B5EF4-FFF2-40B4-BE49-F238E27FC236}">
                <a16:creationId xmlns:a16="http://schemas.microsoft.com/office/drawing/2014/main" id="{151346F9-8165-FBE5-3EAF-71FE4E1EDC63}"/>
              </a:ext>
            </a:extLst>
          </p:cNvPr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lớp theo mô hình 3 tầng đơn giản</a:t>
            </a:r>
            <a:endParaRPr lang="en-US" sz="1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2810052-131C-F88D-F689-D2F028261EA9}"/>
              </a:ext>
            </a:extLst>
          </p:cNvPr>
          <p:cNvGrpSpPr/>
          <p:nvPr/>
        </p:nvGrpSpPr>
        <p:grpSpPr>
          <a:xfrm>
            <a:off x="3947160" y="1681280"/>
            <a:ext cx="4297680" cy="3840480"/>
            <a:chOff x="4564380" y="1833372"/>
            <a:chExt cx="4297680" cy="3840480"/>
          </a:xfrm>
        </p:grpSpPr>
        <p:sp>
          <p:nvSpPr>
            <p:cNvPr id="5" name="Shape 3"/>
            <p:cNvSpPr/>
            <p:nvPr/>
          </p:nvSpPr>
          <p:spPr>
            <a:xfrm>
              <a:off x="4564380" y="1833372"/>
              <a:ext cx="4297680" cy="822960"/>
            </a:xfrm>
            <a:prstGeom prst="roundRect">
              <a:avLst/>
            </a:prstGeom>
            <a:solidFill>
              <a:srgbClr val="E6F0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4564380" y="1842516"/>
              <a:ext cx="4297680" cy="8138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118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MainApp (UI / Menu)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438900" y="2702052"/>
              <a:ext cx="548640" cy="548640"/>
            </a:xfrm>
            <a:prstGeom prst="downArrow">
              <a:avLst/>
            </a:prstGeom>
            <a:solidFill>
              <a:srgbClr val="1E5AA8"/>
            </a:solidFill>
            <a:ln w="12700">
              <a:solidFill>
                <a:srgbClr val="1E5A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4564380" y="3296412"/>
              <a:ext cx="4297680" cy="868680"/>
            </a:xfrm>
            <a:prstGeom prst="roundRect">
              <a:avLst/>
            </a:prstGeom>
            <a:solidFill>
              <a:srgbClr val="E6F0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4564380" y="3296412"/>
              <a:ext cx="4297680" cy="8778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118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StudentManager (Business Logic)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438900" y="4256532"/>
              <a:ext cx="548640" cy="548640"/>
            </a:xfrm>
            <a:prstGeom prst="downArrow">
              <a:avLst/>
            </a:prstGeom>
            <a:solidFill>
              <a:srgbClr val="1E5AA8"/>
            </a:solidFill>
            <a:ln w="12700">
              <a:solidFill>
                <a:srgbClr val="1E5AA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4564380" y="4850892"/>
              <a:ext cx="4297680" cy="822960"/>
            </a:xfrm>
            <a:prstGeom prst="roundRect">
              <a:avLst/>
            </a:prstGeom>
            <a:solidFill>
              <a:srgbClr val="E6F0FF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4564380" y="4860036"/>
              <a:ext cx="4297680" cy="8138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118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Student (Entity / Data)</a:t>
              </a:r>
              <a:endParaRPr lang="en-US" sz="160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548640" y="1371600"/>
            <a:ext cx="2926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1554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MainApp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1041" y="1965960"/>
            <a:ext cx="2611502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menu</a:t>
            </a:r>
          </a:p>
          <a:p>
            <a:pPr marL="160020" indent="-160020">
              <a:buSzPct val="100000"/>
              <a:buFontTx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input</a:t>
            </a:r>
          </a:p>
          <a:p>
            <a:pPr marL="160020" indent="-160020">
              <a:buSzPct val="100000"/>
              <a:buFontTx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StudentManager</a:t>
            </a:r>
            <a:endParaRPr lang="en-US" sz="1400" dirty="0"/>
          </a:p>
          <a:p>
            <a:pPr marL="160020" indent="-160020">
              <a:buSzPct val="100000"/>
              <a:buFontTx/>
              <a:buChar char="•"/>
            </a:pPr>
            <a:endParaRPr lang="en-US" sz="1400" dirty="0"/>
          </a:p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289048"/>
            <a:ext cx="23774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612136"/>
            <a:ext cx="23774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47760" y="137160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91600" y="13944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928340" y="1805940"/>
            <a:ext cx="2394980" cy="14413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 tính: mã, tên, tuổi, giới tính,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0020" indent="-160020">
              <a:buSzPct val="100000"/>
              <a:buFontTx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ĐTB,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37320" y="2354580"/>
            <a:ext cx="219456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2926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StudentManager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1041" y="4343400"/>
            <a:ext cx="2611502" cy="138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mảng Student[] +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size</a:t>
            </a:r>
          </a:p>
          <a:p>
            <a:pPr marL="160020" indent="-160020">
              <a:buSzPct val="100000"/>
              <a:buFontTx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FR1–FR8</a:t>
            </a:r>
          </a:p>
          <a:p>
            <a:pPr marL="160020" indent="-160020">
              <a:buSzPct val="100000"/>
              <a:buFontTx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 &amp;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4666488"/>
            <a:ext cx="23774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4989576"/>
            <a:ext cx="23774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747760" y="3749040"/>
            <a:ext cx="2743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991600" y="3931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8867955" y="4343400"/>
            <a:ext cx="2455365" cy="135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trách nhiệm (SRP)</a:t>
            </a:r>
          </a:p>
          <a:p>
            <a:pPr marL="160020" indent="-160020">
              <a:buSzPct val="100000"/>
              <a:buFontTx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(Encapsulation)</a:t>
            </a:r>
          </a:p>
          <a:p>
            <a:pPr marL="160020" indent="-160020">
              <a:buSzPct val="100000"/>
              <a:buFontTx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rộng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/DB)</a:t>
            </a:r>
            <a:endParaRPr lang="en-US" sz="1400" dirty="0"/>
          </a:p>
          <a:p>
            <a:pPr marL="160020" indent="-160020">
              <a:buSzPct val="100000"/>
              <a:buFontTx/>
              <a:buChar char="•"/>
            </a:pPr>
            <a:endParaRPr lang="en-US" sz="1400" dirty="0"/>
          </a:p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37320" y="4666488"/>
            <a:ext cx="219456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37320" y="5111496"/>
            <a:ext cx="219456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>
            <a:extLst>
              <a:ext uri="{FF2B5EF4-FFF2-40B4-BE49-F238E27FC236}">
                <a16:creationId xmlns:a16="http://schemas.microsoft.com/office/drawing/2014/main" id="{D32FC0F9-E18E-796E-635E-67E4EBE29B95}"/>
              </a:ext>
            </a:extLst>
          </p:cNvPr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dữ liệu: Student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 tính, phương thức và quy tắc tính điểm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576072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Student</a:t>
            </a:r>
            <a:endParaRPr lang="en-US" sz="2000" dirty="0">
              <a:solidFill>
                <a:srgbClr val="0B1F3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 tính (private)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id;  // mã SV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fullName;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age;  // 18–30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gender;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math, physics, chemistry;  // 0–10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gpa;  // điểm trung bình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rank; // Giỏi/Khá/TB/Yếu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thức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4480560"/>
            <a:ext cx="521208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Student() / Student(id, name, ...)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4803648"/>
            <a:ext cx="521208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get/set (Encapsulation)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5126736"/>
            <a:ext cx="521208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calcGpa()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5449824"/>
            <a:ext cx="521208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classify()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5772912"/>
            <a:ext cx="521208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toString() / display()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49440" y="1188720"/>
            <a:ext cx="44805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2376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bắt buộc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269480" y="1783080"/>
            <a:ext cx="39319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SV không trùng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2106168"/>
            <a:ext cx="39319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Tuổi: 18–30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2429256"/>
            <a:ext cx="39319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mỗi môn: 0–10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69480" y="2752344"/>
            <a:ext cx="39319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thay đổi điểm → tính lại ĐTB &amp; xếp loại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3520440"/>
            <a:ext cx="44805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23760" y="3703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xếp loại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269480" y="4114800"/>
            <a:ext cx="39319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Giỏi: ĐTB ≥ 8.0 &amp; không môn &lt; 6.5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4437888"/>
            <a:ext cx="39319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Khá:  ĐTB ≥ 6.5 &amp; không môn &lt; 5.0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69480" y="4760976"/>
            <a:ext cx="39319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TB:   ĐTB ≥ 5.0 &amp; không môn &lt; 3.5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69480" y="5084064"/>
            <a:ext cx="39319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Yếu:  còn lại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50C93962-3CCF-D937-FAA7-52196D4558FD}"/>
              </a:ext>
            </a:extLst>
          </p:cNvPr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 – Thêm mới • FR2 – Hiển thị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xử lý nhập liệu và xuất danh sách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5778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FR1: Thêm sinh viên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Nhập: id, họ tên, tuổi, giới tính, điểm Toán/Lý/Hóa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60448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tra: id không trùng; tuổi 18–30; điểm 0–10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83536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Student (constructor)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706624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vào Student[] tại vị trí size; size++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029712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ĐTB &amp; xếp loại ngay khi thêm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1143000"/>
            <a:ext cx="49377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0" y="1325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FR2: Hiển thị danh sách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20840" y="1737360"/>
            <a:ext cx="448056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từ 0 → size-1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2060448"/>
            <a:ext cx="448056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bảng: MSV | Họ tên | Tuổi | Giới tính | ĐTB | Xếp loại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2383536"/>
            <a:ext cx="448056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 ĐTB 2 chữ số thập phân (vd: 7.50)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3886200"/>
            <a:ext cx="4937760" cy="237744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4023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định dạng bảng (console)</a:t>
            </a:r>
            <a:endParaRPr lang="en-US" sz="1400" dirty="0">
              <a:solidFill>
                <a:srgbClr val="0B1F3B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50967" y="4343400"/>
            <a:ext cx="462632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MSV    | Họ tên        | Tuổi | GT | ĐTB  | Xếp loại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SV001  | Nguyễn An     |  19  | M  | 8.33 | Giỏi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SV002  | Trần Bình     |  20  | F  | 6.90 | Khá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>
            <a:extLst>
              <a:ext uri="{FF2B5EF4-FFF2-40B4-BE49-F238E27FC236}">
                <a16:creationId xmlns:a16="http://schemas.microsoft.com/office/drawing/2014/main" id="{60374E3C-19AD-7978-86DD-7440EBB0B361}"/>
              </a:ext>
            </a:extLst>
          </p:cNvPr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 – Tìm kiếm • FR4 – Cập nhật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tuyến tính và cập nhật có kiểm soát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5778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FR3: Tìm kiếm sinh viên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5029200" cy="2191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kiểu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(1) Theo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SV hoặc (2) Theo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Linear Search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Student[]</a:t>
            </a:r>
          </a:p>
          <a:p>
            <a:pPr marL="160020" indent="-160020">
              <a:lnSpc>
                <a:spcPct val="150000"/>
              </a:lnSpc>
              <a:buSzPct val="100000"/>
              <a:buFontTx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(equals /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equalsIgnoreCase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mờ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(contains +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ignoreCase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vi-V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Hiển thị tất cả sinh viên thỏa điều kiện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60020" indent="-160020">
              <a:lnSpc>
                <a:spcPct val="150000"/>
              </a:lnSpc>
              <a:buSzPct val="100000"/>
              <a:buFontTx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2060448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83536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706624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029712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25196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triển khai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51560" y="4846320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hàm: findById(id) trả về index hoặc -1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5169408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hàm: normalize(str) để chuẩn hóa chữ thường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5492496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lặp code giữa FR3/FR4/FR5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143000"/>
            <a:ext cx="49377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1463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FR4: Cập nhật thông tin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12280" y="1932317"/>
            <a:ext cx="4389120" cy="39940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SV →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Student[]→ so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phép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tin →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tuổi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thúc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</a:t>
            </a: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bình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</a:t>
            </a: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</a:t>
            </a: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0020" indent="-16002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thúc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2060448"/>
            <a:ext cx="43891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2383536"/>
            <a:ext cx="43891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2706624"/>
            <a:ext cx="43891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>
            <a:extLst>
              <a:ext uri="{FF2B5EF4-FFF2-40B4-BE49-F238E27FC236}">
                <a16:creationId xmlns:a16="http://schemas.microsoft.com/office/drawing/2014/main" id="{9964A455-3D38-14C0-9959-357233B0ECE6}"/>
              </a:ext>
            </a:extLst>
          </p:cNvPr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 – Xóa sinh viên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trong mảng cố định bằng dịch chuyển phần tử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5778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</a:t>
            </a: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5029200" cy="2100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SV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</a:t>
            </a: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0020" indent="-160020"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mảng</a:t>
            </a: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0020" indent="-160020"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trái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tử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phía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lấp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chỗ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trống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endParaRPr lang="en-US" sz="1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60020" indent="-160020">
              <a:buSzPct val="100000"/>
              <a:buChar char="•"/>
            </a:pP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thấy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60448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83536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5577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xóa (shift)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4754880"/>
            <a:ext cx="5029200" cy="1292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r>
              <a:rPr lang="nn-NO" sz="1400" dirty="0">
                <a:latin typeface="Consolas" panose="020B0609020204030204" pitchFamily="49" charset="0"/>
              </a:rPr>
              <a:t>for (int i = index; i &lt; size - 1; i++) {</a:t>
            </a:r>
          </a:p>
          <a:p>
            <a:pPr>
              <a:buSzPct val="100000"/>
            </a:pPr>
            <a:r>
              <a:rPr lang="nn-NO" sz="1400" dirty="0">
                <a:latin typeface="Consolas" panose="020B0609020204030204" pitchFamily="49" charset="0"/>
              </a:rPr>
              <a:t>    arr[i] = arr[i + 1];</a:t>
            </a:r>
          </a:p>
          <a:p>
            <a:pPr>
              <a:buSzPct val="100000"/>
            </a:pPr>
            <a:r>
              <a:rPr lang="nn-NO" sz="1400" dirty="0">
                <a:latin typeface="Consolas" panose="020B0609020204030204" pitchFamily="49" charset="0"/>
              </a:rPr>
              <a:t>}</a:t>
            </a:r>
          </a:p>
          <a:p>
            <a:pPr>
              <a:buSzPct val="100000"/>
            </a:pPr>
            <a:r>
              <a:rPr lang="nn-NO" sz="1400" dirty="0">
                <a:latin typeface="Consolas" panose="020B0609020204030204" pitchFamily="49" charset="0"/>
              </a:rPr>
              <a:t>size--;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51560" y="5077968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5401056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5724144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1143000"/>
            <a:ext cx="49377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20840" y="210225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họa dịch chuyển</a:t>
            </a:r>
            <a:endParaRPr lang="en-US" sz="1600" dirty="0">
              <a:solidFill>
                <a:srgbClr val="0B1F3B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20840" y="246801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khi xóa (xóa phần tử #2)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2788050"/>
            <a:ext cx="777240" cy="5486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287949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301665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589520" y="2788050"/>
            <a:ext cx="777240" cy="5486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0" y="287949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89520" y="301665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58200" y="2788050"/>
            <a:ext cx="77724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58200" y="287949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301665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326880" y="2788050"/>
            <a:ext cx="777240" cy="5486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26880" y="287949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0" y="301665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195560" y="2788050"/>
            <a:ext cx="777240" cy="5486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195560" y="287949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195560" y="301665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20840" y="415965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khi xóa (đã shift trái)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20840" y="4479690"/>
            <a:ext cx="777240" cy="5486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20840" y="457113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20840" y="470829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SV1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589520" y="4479690"/>
            <a:ext cx="777240" cy="5486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89520" y="457113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89520" y="470829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SV2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458200" y="4479690"/>
            <a:ext cx="777240" cy="5486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458200" y="457113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458200" y="470829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SV4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326880" y="4479690"/>
            <a:ext cx="777240" cy="54864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326880" y="457113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326880" y="470829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SV5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195560" y="4479690"/>
            <a:ext cx="77724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195560" y="4571130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195560" y="470829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1000" dirty="0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D3F27B1D-8C5B-84A6-BB71-BFB71518EBF7}"/>
              </a:ext>
            </a:extLst>
          </p:cNvPr>
          <p:cNvCxnSpPr>
            <a:cxnSpLocks/>
          </p:cNvCxnSpPr>
          <p:nvPr/>
        </p:nvCxnSpPr>
        <p:spPr>
          <a:xfrm rot="5400000">
            <a:off x="9281160" y="2962732"/>
            <a:ext cx="12700" cy="868680"/>
          </a:xfrm>
          <a:prstGeom prst="bentConnector3">
            <a:avLst>
              <a:gd name="adj1" fmla="val 180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AF505D28-9789-5F30-12A5-4C028AFB5A5F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149840" y="2319206"/>
            <a:ext cx="12700" cy="868680"/>
          </a:xfrm>
          <a:prstGeom prst="bentConnector3">
            <a:avLst>
              <a:gd name="adj1" fmla="val 180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DF325AFE-2B03-CACD-31A5-170A9611499E}"/>
              </a:ext>
            </a:extLst>
          </p:cNvPr>
          <p:cNvSpPr/>
          <p:nvPr/>
        </p:nvSpPr>
        <p:spPr>
          <a:xfrm>
            <a:off x="0" y="0"/>
            <a:ext cx="12191695" cy="877824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 – Tính điểm trung bình &amp; xếp loại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và điều kiện khống chế từng mức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3035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475488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ĐTB = (Toán + Lý + Hóa) /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60448"/>
            <a:ext cx="475488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ĐTB được cập nhật sau khi thêm hoặc sửa điểm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phân loại</a:t>
            </a:r>
            <a:endParaRPr lang="en-US" sz="1600" dirty="0">
              <a:solidFill>
                <a:srgbClr val="0B1F3B"/>
              </a:solidFill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66160"/>
          <a:ext cx="10972800" cy="2057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Xếp loại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kiện ĐTB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Điều kiện môn (khống chế)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Giỏi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môn &lt; 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môn &lt; 5.0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Trung bình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môn &lt; 3.5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Yếu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Còn lại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309360" y="1143000"/>
            <a:ext cx="5394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0" y="1325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code (if-else)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629400" y="1737360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kiểm tra từ mức cao xuống thấp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29400" y="2060448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Kèm điều kiện min từng môn để tránh “điểm lệch”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29400" y="2383536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rank (String) hoặc enum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 – Sắp xếp danh sách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theo ĐTB • Selection Sort theo tên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577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theo ĐTB (giảm dần) – Bubble Sort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student[j].gpa và student[j+1].gpa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60448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gpa thấp hơn → swap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83536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khi số lượng SV nhỏ (O(n²))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577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theo tên (A–Z) – Selection Sort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4709160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compareToIgnoreCase(fullName)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5032248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phần tử nhỏ nhất đưa về đầu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5355336"/>
            <a:ext cx="502920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O(n²), dễ minh họa trên mảng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1143000"/>
            <a:ext cx="4937760" cy="512064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0840" y="162780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sắp xếp</a:t>
            </a:r>
            <a:endParaRPr lang="en-US" sz="1600" dirty="0">
              <a:solidFill>
                <a:srgbClr val="0B1F3B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20840" y="2039282"/>
            <a:ext cx="448056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ĐTB: ưu tiên hiển thị SV học lực cao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2362370"/>
            <a:ext cx="448056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tên: hỗ trợ tra cứu, in danh sách lớp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2685458"/>
            <a:ext cx="448056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Ổn định dữ liệu: chỉ hoán đổi trong phạm vi 0..size-1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5349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 – Thống kê &amp; Báo cáo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 số liệu: phân loại, min/max, ĐTB toàn lớp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669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thống kê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số SV theo xếp loại: Giỏi/Khá/TB/Yếu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60448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SV có ĐTB cao nhất và thấp nhất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83536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ĐTB chung của tất cả sinh viên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5669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977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triển khai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4389120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1 lần (one-pass) để tối ưu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4712208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đếm: countGioi, countKha, ...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5035296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max/min khi gặp giá trị tốt hơn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5358384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ĐTB: sumGpa → avg = sumGpa/size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1143000"/>
            <a:ext cx="484632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12280" y="169681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báo cáo (console)</a:t>
            </a:r>
            <a:endParaRPr lang="en-US" sz="1600" dirty="0">
              <a:solidFill>
                <a:srgbClr val="0B1F3B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12280" y="1691640"/>
            <a:ext cx="43891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3"/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THỐNG KÊ ===</a:t>
            </a:r>
            <a:endParaRPr lang="en-US" sz="1300" dirty="0"/>
          </a:p>
          <a:p>
            <a:pPr lvl="3"/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Giỏi:  3</a:t>
            </a:r>
            <a:endParaRPr lang="en-US" sz="1300" dirty="0"/>
          </a:p>
          <a:p>
            <a:pPr lvl="3"/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Khá:   8</a:t>
            </a:r>
            <a:endParaRPr lang="en-US" sz="1300" dirty="0"/>
          </a:p>
          <a:p>
            <a:pPr lvl="3"/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TB:    5</a:t>
            </a:r>
            <a:endParaRPr lang="en-US" sz="1300" dirty="0"/>
          </a:p>
          <a:p>
            <a:pPr lvl="3"/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Yếu:   1</a:t>
            </a:r>
            <a:endParaRPr lang="en-US" sz="1300" dirty="0"/>
          </a:p>
          <a:p>
            <a:pPr lvl="3"/>
            <a:endParaRPr lang="en-US" sz="1300" dirty="0"/>
          </a:p>
          <a:p>
            <a:pPr lvl="3"/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GPA: SV001 - 8.33</a:t>
            </a:r>
            <a:endParaRPr lang="en-US" sz="1300" dirty="0"/>
          </a:p>
          <a:p>
            <a:pPr lvl="3"/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GPA: SV017 - 3.90</a:t>
            </a:r>
            <a:endParaRPr lang="en-US" sz="1300" dirty="0"/>
          </a:p>
          <a:p>
            <a:pPr lvl="3"/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 lớp: 6.42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Console &amp; Luồng hoạt động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điều khiển bằng vòng lặp do-while và switch-case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394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chương trình → hiển thị menu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60448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chọn 1–9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83536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chức năng tương ứng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706624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Quay lại menu cho đến khi chọn “Thoát”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029712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lỗi nhập sai (try-catch) và yêu cầu nhập lại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53949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886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INPUT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51560" y="4297680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hàm nhập số nguyên/double an toàn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620768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crash khi nhập chữ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943856"/>
            <a:ext cx="484632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dữ liệu (trim, lower-case)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143000"/>
            <a:ext cx="4937760" cy="5120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13948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mẫu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20840" y="1921096"/>
            <a:ext cx="4480560" cy="4251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QUẢN LÝ SINH VIÊN =====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Thêm sinh viên mới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Hiển thị tất cả sinh viên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Tìm kiếm sinh viên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Cập nhật thông tin sinh viên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Xóa sinh viên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Tính điểm trung bình và xếp loại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Sắp xếp sinh viên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Thống kê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Thoát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Chọn chức năng (1-9):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&amp; Hướng phát triển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gì đạt được và các bước mở rộng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5669280" cy="1886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đầy đủ FR1–FR8 trên Console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060448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OOP: Encapsulation, Constructor, tách lớp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83536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 mảng đối tượng + thuật toán cơ bản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368730"/>
            <a:ext cx="5669280" cy="1886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55161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 KỸ THUẬT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3963090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trạng thái bằng size để tránh phần tử null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4286178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giúp dữ liệu nhất quán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609266"/>
            <a:ext cx="512064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hàm tìm kiếm giúp tái sử dụng (FR3/FR4/FR5)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1143000"/>
            <a:ext cx="4846320" cy="4112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1325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</a:t>
            </a:r>
            <a:endParaRPr lang="en-US" sz="1800" dirty="0">
              <a:solidFill>
                <a:srgbClr val="0B1F3B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03720" y="1737360"/>
            <a:ext cx="429768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Student[] → ArrayList&lt;Student&gt; (linh hoạt kích thước)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060448"/>
            <a:ext cx="429768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Lưu/đọc dữ liệu: File (CSV/JSON) hoặc Database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2383536"/>
            <a:ext cx="429768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diện: JavaFX/Swing hoặc Web (REST API)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2706624"/>
            <a:ext cx="4297680" cy="32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cấp thuật toán: sort theo nhiều tiêu chí, filter nâng cao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594460"/>
            <a:ext cx="10698480" cy="760620"/>
          </a:xfrm>
          <a:prstGeom prst="round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594460"/>
            <a:ext cx="10698479" cy="760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thầy/cô và các bạn đã lắng nghe!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6583680"/>
            <a:ext cx="103628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sinh viên (Java OOP) • Console 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583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1913</Words>
  <Application>Microsoft Office PowerPoint</Application>
  <PresentationFormat>Widescreen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Pham Viet An D24TX</cp:lastModifiedBy>
  <cp:revision>3</cp:revision>
  <dcterms:created xsi:type="dcterms:W3CDTF">2026-02-02T10:14:43Z</dcterms:created>
  <dcterms:modified xsi:type="dcterms:W3CDTF">2026-02-02T19:39:11Z</dcterms:modified>
</cp:coreProperties>
</file>