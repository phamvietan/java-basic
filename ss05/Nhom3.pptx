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7" r:id="rId4"/>
    <p:sldId id="258" r:id="rId5"/>
    <p:sldId id="259" r:id="rId6"/>
    <p:sldId id="260" r:id="rId7"/>
    <p:sldId id="269" r:id="rId8"/>
    <p:sldId id="270" r:id="rId9"/>
    <p:sldId id="271" r:id="rId10"/>
    <p:sldId id="261" r:id="rId11"/>
    <p:sldId id="272" r:id="rId12"/>
    <p:sldId id="273" r:id="rId13"/>
    <p:sldId id="274" r:id="rId14"/>
    <p:sldId id="27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A33"/>
    <a:srgbClr val="DB6FC6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44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problem pages: Two Sum, Move Zeroes, Valid Palindrome, Reverse Words in a String, Happy Number: https://leetcode.com/problems/two-sum/ ; https://leetcode.com/problems/move-zeroes/ ; https://leetcode.com/problems/valid-palindrome/ ; https://leetcode.com/problems/reverse-words-in-a-string/ ; https://leetcode.com/problems/happy-number/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9358-0E3A-B23B-8ED5-F7970B1C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7CC60-6EED-5133-331D-C2E7814BF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2189B-33BB-16D7-5F68-935F6C2BA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problem pages (for the 5 selected problems): https://leetcode.com/problems/two-sum/ ; https://leetcode.com/problems/move-zeroes/ ; https://leetcode.com/problems/valid-palindrome/ ; https://leetcode.com/problems/reverse-words-in-a-string/ ; https://leetcode.com/problems/happy-number/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79F18-5D21-6A0E-F998-62E707255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5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problem pages (for the 5 selected problems): https://leetcode.com/problems/two-sum/ ; https://leetcode.com/problems/move-zeroes/ ; https://leetcode.com/problems/valid-palindrome/ ; https://leetcode.com/problems/reverse-words-in-a-string/ ; https://leetcode.com/problems/happy-number/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problem pages referenced in this project: https://leetcode.com/problems/two-sum/ ; https://leetcode.com/problems/move-zeroes/ ; https://leetcode.com/problems/valid-palindrome/ ; https://leetcode.com/problems/reverse-words-in-a-string/ ; https://leetcode.com/problems/happy-number/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collections used in this deck: HashMap/HashSet overview from Oracle Javadoc: https://docs.oracle.com/javase/8/docs/api/java/util/HashMap.html ; https://docs.oracle.com/en/java/javase/25/docs/api/java.base/java/util/HashSet.html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Scanner overview: https://docs.oracle.com/javase/8/docs/api/java/util/Scanner.html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EC26-147A-50F7-ACAB-EE141698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DC418-AB95-6238-C14D-B1DB86604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EAFED-F13B-9C40-CD43-2FF136AC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Scanner overview: https://docs.oracle.com/javase/8/docs/api/java/util/Scanner.html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6525E-C647-7C23-B0F8-B9C6F3B94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09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CB08-53C8-E506-0FD2-183D922A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94AC8-85CB-A452-5BC0-322E69786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88F14-8EDA-42A9-F901-7B98FD4E7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Scanner overview: https://docs.oracle.com/javase/8/docs/api/java/util/Scanner.html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03DFF-6249-FD6F-2E1F-AFBFC29B2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A263-61B4-1729-D59D-33F14AD9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BCE79-0484-445B-7A54-7CA69E80E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A0BCF-290C-70AA-CE42-D19EC889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Scanner overview: https://docs.oracle.com/javase/8/docs/api/java/util/Scanner.html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0C21-3DA5-6FD2-F08F-91FA280B5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38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Two Sum: https://leetcode.com/problems/two-sum/
- Java HashMap (hash-table based map; get/put are typical constant-time): https://docs.oracle.com/javase/8/docs/api/java/util/HashMap.html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669B-A476-1DD5-1040-46476E54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AA451-7697-0BA1-85A1-85F6FEC08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DC2DE-0F5C-29DE-CE30-508860018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Two Sum: https://leetcode.com/problems/two-sum/
- Java HashMap (hash-table based map; get/put are typical constant-time): https://docs.oracle.com/javase/8/docs/api/java/util/HashMap.html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B43F0-A3F6-3307-764C-CFDF0A4C6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06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DE98-F2D2-BAC4-4F19-EA7882CD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A2C12-16FD-A442-605C-78BDD3907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ECF74-CCF9-C4AB-FF72-55B270606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Two Sum: https://leetcode.com/problems/two-sum/
- Java HashMap (hash-table based map; get/put are typical constant-time): https://docs.oracle.com/javase/8/docs/api/java/util/HashMap.html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85B0A-4A32-0777-F9A2-5EA90C596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70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3806-D14B-00F6-089E-CDF2434A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B8AC4-57C9-2DD6-A33D-B8FE8E63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5581C-C36B-C414-0F68-63ADCA0D7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Two Sum: https://leetcode.com/problems/two-sum/
- Java HashMap (hash-table based map; get/put are typical constant-time): https://docs.oracle.com/javase/8/docs/api/java/util/HashMap.html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A8B15-6AF3-EADB-1A10-AAD39A415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65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D25D3-7E0F-6E03-4CD4-80AD9862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74151-A69D-05B7-C81A-791569002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52C9-8075-9461-B734-15700FE2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Two Sum: https://leetcode.com/problems/two-sum/
- Java HashMap (hash-table based map; get/put are typical constant-time): https://docs.oracle.com/javase/8/docs/api/java/util/HashMap.html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E5AC-F0B1-B6F6-E67D-9A56AD8399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68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Java Scanner (tokenization, input parsing): https://docs.oracle.com/javase/8/docs/api/java/util/Scanner.html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LeetCode problem pages referenced in this project: https://leetcode.com/problems/two-sum/ ; https://leetcode.com/problems/move-zeroes/ ; https://leetcode.com/problems/valid-palindrome/ ; https://leetcode.com/problems/reverse-words-in-a-string/ ; https://leetcode.com/problems/happy-number/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228600" y="0"/>
            <a:ext cx="10972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ỨNG DỤNG CONSOLE JAVA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Ôn tập Java cơ bản qua 5 bài toán LeetCode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2788920"/>
            <a:ext cx="4663440" cy="8412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/ OpenJDK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916936"/>
            <a:ext cx="1920240" cy="530352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338328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LeetCode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3886199"/>
            <a:ext cx="2834640" cy="1352551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1161288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toán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4389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86200" y="3886199"/>
            <a:ext cx="2834640" cy="1352551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420624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Nhóm kiến thức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4389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Mảng • Chuỗi • Regex • Vòng lặp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31152" y="3886199"/>
            <a:ext cx="4343400" cy="1352551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7251192" y="4069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Hình thức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51192" y="43891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Console App (Menu tương tác)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" y="6172200"/>
            <a:ext cx="105091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AE6F9-5ED9-B27A-43F9-F021E849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114FB36-F187-777D-510F-5FE5ADA40A8A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Thành Viên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0E76A8-7354-D1F6-3FDA-2C5870B2E8C4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8653A-BFC3-58DE-2179-87F57835BABC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</a:t>
            </a: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thiệu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DA40D4-EC6B-D42B-C745-B9871347C506}"/>
              </a:ext>
            </a:extLst>
          </p:cNvPr>
          <p:cNvSpPr/>
          <p:nvPr/>
        </p:nvSpPr>
        <p:spPr>
          <a:xfrm>
            <a:off x="1005840" y="15087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94DF9D-A7C1-B196-8D96-1CB4C8C1587B}"/>
              </a:ext>
            </a:extLst>
          </p:cNvPr>
          <p:cNvSpPr/>
          <p:nvPr/>
        </p:nvSpPr>
        <p:spPr>
          <a:xfrm>
            <a:off x="1097280" y="923925"/>
            <a:ext cx="9997135" cy="4928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Nguyễn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Đăng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Dương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Đinh Quang Huy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Nguyễn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Đình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 Sơn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Phùng Quang Tiến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Phạm Việt An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Nguyễn Thị Yến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Triệu Quốc Bình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Phan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Thuận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 Thành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Nguyễn Đức Anh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Nguyễn Việt Trung</a:t>
            </a: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Đỗ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 Hoàng Anh</a:t>
            </a:r>
          </a:p>
        </p:txBody>
      </p:sp>
    </p:spTree>
    <p:extLst>
      <p:ext uri="{BB962C8B-B14F-4D97-AF65-F5344CB8AC3E}">
        <p14:creationId xmlns:p14="http://schemas.microsoft.com/office/powerpoint/2010/main" val="363585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Nội dung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trình bày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999713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Giới thiệu: mục đích &amp; đối tượng sử dụng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Mô tả tổng quan hệ thống (Console + Menu tương tác)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Yêu cầu chức năng: 5 bài toán (3 nhóm)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Giao diện &amp; luồng hoạt động của Menu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Kết luận &amp; gợi ý mở rộng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23591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325880" y="590702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cơ bản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93592" y="5852160"/>
            <a:ext cx="2194560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3822192" y="59070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 toán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25312" y="5852160"/>
            <a:ext cx="1371600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6153912" y="59070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34072" y="5852160"/>
            <a:ext cx="4169664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7662672" y="590702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LeetCode (Easy/Medium)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Giới thiệu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Mục đích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đích của đề tài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Console App Java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giúp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khiển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, Regex.</a:t>
            </a: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Học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qua 5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bài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LeetCode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>
              <a:lnSpc>
                <a:spcPct val="115000"/>
              </a:lnSpc>
              <a:spcAft>
                <a:spcPts val="300"/>
              </a:spcAft>
              <a:buSzPct val="100000"/>
            </a:pPr>
            <a:endParaRPr lang="en-US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3931920"/>
            <a:ext cx="9997135" cy="36576"/>
          </a:xfrm>
          <a:prstGeom prst="rect">
            <a:avLst/>
          </a:prstGeom>
          <a:solidFill>
            <a:srgbClr val="22304F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thức vận dụng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97280" y="4663440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325880" y="4800600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Biến &amp; kiểu dữ liệu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7280" y="5376672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1325880" y="5513832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/ switch / vòng lặp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7280" y="6089904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325880" y="6227064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Mảng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90098" y="4663440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4818698" y="4800600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chuỗi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90098" y="5376672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4818698" y="5513832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90098" y="6089904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4818698" y="6227064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Nhập/xuất Console (Scanner)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82917" y="4663440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8311517" y="4800600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Tư duy thuật toán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82917" y="5376672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8311517" y="5513832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phức tạp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82917" y="6089904"/>
            <a:ext cx="3011805" cy="548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8311517" y="6227064"/>
            <a:ext cx="2569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 chức code theo menu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Giới thiệu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Đối tượng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5669280" cy="5349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6675120" y="1097280"/>
            <a:ext cx="4967935" cy="5349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sẽ dùng?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Học sinh đã hoàn thành Java cơ bản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Muốn ôn tập có hệ thống (theo bài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toán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)</a:t>
            </a:r>
          </a:p>
          <a:p>
            <a:pPr marL="182880" indent="-182880">
              <a:spcAft>
                <a:spcPts val="560"/>
              </a:spcAft>
              <a:buSzPct val="100000"/>
              <a:buFontTx/>
              <a:buChar char="•"/>
            </a:pP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Muốn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luyện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thao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tác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/Regex ở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mức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vừa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phải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Cần môi trường thực hành nhanh: nhập → xử lý → in kết quả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86600" y="141732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Giá trị mang lại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396209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Thực hành 5 “pattern” phổ biến: HashMap, 2 pointers, Regex, xử lý khoảng trắng, phát hiện chu kỳ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Hiểu cách phối hợp nhiều kiến thức trong một chương trình menu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Dễ mở rộng: thêm bài toán mới, thêm kiểm thử, tối ưu IO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78040" y="4960620"/>
            <a:ext cx="3962095" cy="9601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7406640" y="5161788"/>
            <a:ext cx="3504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Nguyên tắc: “học bằng cách giải bài” → “đóng gói thành ứng dụng”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tả tổng quan hệ thống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93495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Hệ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thống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là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chương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trình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tương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tác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qua Menu: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5840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1115568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Hiển thị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53157" y="2500503"/>
            <a:ext cx="164592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2736037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2845765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Người dùng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bài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83354" y="2500503"/>
            <a:ext cx="164592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4466234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4575962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Nhập dữ liệu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(Scanner)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13552" y="2500503"/>
            <a:ext cx="164592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6196432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6306160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Chạy thuật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43749" y="2500503"/>
            <a:ext cx="164592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7926629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8036357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In kết quả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 màn hình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473946" y="2500503"/>
            <a:ext cx="164592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9656826" y="2207895"/>
            <a:ext cx="1529029" cy="7772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9766554" y="2335911"/>
            <a:ext cx="130957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Quay lại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5840" y="330517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nhấn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7280" y="3762375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kết thúc sau một bài: luôn quay về Menu chính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Hỗ trợ người dùng thử nhiều input trong một lần chạy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bài toán theo nhóm để dễ mở rộng và bảo trì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04965" y="3305175"/>
            <a:ext cx="4680890" cy="283845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6705600" y="3469767"/>
            <a:ext cx="4160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Khung </a:t>
            </a:r>
            <a:r>
              <a:rPr lang="en-US" sz="11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chương</a:t>
            </a: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16446" y="3734943"/>
            <a:ext cx="4446727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showMenu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Chọn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chức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năng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”);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choice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(choice) 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chức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năng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1400" dirty="0">
                <a:solidFill>
                  <a:srgbClr val="8292A2"/>
                </a:solidFill>
                <a:latin typeface="Consolas" pitchFamily="34" charset="0"/>
              </a:rPr>
              <a:t>9   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}</a:t>
            </a:r>
          </a:p>
          <a:p>
            <a:r>
              <a:rPr lang="en-US" sz="1400" dirty="0">
                <a:solidFill>
                  <a:srgbClr val="8292A2"/>
                </a:solidFill>
                <a:latin typeface="Consolas" pitchFamily="34" charset="0"/>
              </a:rPr>
              <a:t>10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}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</a:rPr>
              <a:t>while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 (choice </a:t>
            </a:r>
            <a:r>
              <a:rPr lang="en-US" sz="1400" dirty="0">
                <a:solidFill>
                  <a:srgbClr val="DB6FC6"/>
                </a:solidFill>
                <a:latin typeface="Consolas" pitchFamily="34" charset="0"/>
              </a:rPr>
              <a:t>!=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 0); 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02B5-B79B-8833-6A4A-DA0133F3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3059A59-FAFA-D38E-C2F6-9A9530E58726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tả tổng quan hệ thống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B01084-BCAC-C8C0-856F-11E831265B37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E19A8F-114F-4A65-9569-20D8FDA34391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Overall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E1434F-7F07-470C-4693-535ED21D6E3A}"/>
              </a:ext>
            </a:extLst>
          </p:cNvPr>
          <p:cNvSpPr/>
          <p:nvPr/>
        </p:nvSpPr>
        <p:spPr>
          <a:xfrm>
            <a:off x="1005840" y="1293495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Luồng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giải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quyết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tổng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thể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của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hệ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thống</a:t>
            </a:r>
            <a:endParaRPr lang="en-US" sz="24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AF957A06-07BF-0AA1-9FDC-FE5E860648A4}"/>
              </a:ext>
            </a:extLst>
          </p:cNvPr>
          <p:cNvSpPr/>
          <p:nvPr/>
        </p:nvSpPr>
        <p:spPr>
          <a:xfrm>
            <a:off x="1390650" y="1998345"/>
            <a:ext cx="9410700" cy="422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254000" indent="-254000">
              <a:lnSpc>
                <a:spcPct val="112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Menu (1–5, 0 thoát)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254000" indent="-254000">
              <a:lnSpc>
                <a:spcPct val="112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nhập lựa chọn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254000" indent="-254000">
              <a:lnSpc>
                <a:spcPct val="112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lựa chọn: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0 → thoát chương trình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1–5 → chuyển sang luồng bài toán tương ứng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khác → báo lỗi và quay lại Menu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254000" indent="-254000">
              <a:lnSpc>
                <a:spcPct val="112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bài toán đã chọn: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nhập dữ liệu (hoặc chọn dùng dữ liệu mẫu)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dữ liệu đầu vào hợp lệ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thuật toán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508000" lvl="1" indent="-254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kết quả ra màn hình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  <a:p>
            <a:pPr marL="254000" indent="-254000">
              <a:lnSpc>
                <a:spcPct val="112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lại Menu chính (lặp lại đến khi người dùng chọn 0)</a:t>
            </a:r>
            <a:endParaRPr lang="en-US" sz="17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571A-7825-B7E5-3128-855D13D6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1FFF7ED-B9AE-E7E8-EE9F-3CC2B263F24F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tả tổng quan hệ thống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A343B8-6184-B5B8-14B8-6B5F2377C2EF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37CE05-E191-5B61-ECF4-6295243A1A35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Overall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B4086A-08C0-2463-7B1C-002B82DF748E}"/>
              </a:ext>
            </a:extLst>
          </p:cNvPr>
          <p:cNvSpPr/>
          <p:nvPr/>
        </p:nvSpPr>
        <p:spPr>
          <a:xfrm>
            <a:off x="1005840" y="1293495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Yêu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cầu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giao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diện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Console</a:t>
            </a:r>
            <a:endParaRPr lang="en-US" sz="24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56317448-4B0C-ECC2-3DEF-DBD8F3D2B8DA}"/>
              </a:ext>
            </a:extLst>
          </p:cNvPr>
          <p:cNvSpPr/>
          <p:nvPr/>
        </p:nvSpPr>
        <p:spPr>
          <a:xfrm>
            <a:off x="1390649" y="1922145"/>
            <a:ext cx="5095875" cy="2545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`Scanner`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622300" lvl="1" indent="-342900">
              <a:lnSpc>
                <a:spcPct val="115000"/>
              </a:lnSpc>
              <a:spcAft>
                <a:spcPts val="400"/>
              </a:spcAft>
              <a:buSzPct val="100000"/>
              <a:buFont typeface="Symbol" panose="05050102010706020507" pitchFamily="18" charset="2"/>
              <a:buChar char="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622300" lvl="1" indent="-342900">
              <a:lnSpc>
                <a:spcPct val="115000"/>
              </a:lnSpc>
              <a:spcAft>
                <a:spcPts val="400"/>
              </a:spcAft>
              <a:buSzPct val="100000"/>
              <a:buFont typeface="Symbol" panose="05050102010706020507" pitchFamily="18" charset="2"/>
              <a:buChar char=""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rỗng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quay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8D984BFB-D5F5-DCB1-2296-124C0C10F351}"/>
              </a:ext>
            </a:extLst>
          </p:cNvPr>
          <p:cNvSpPr/>
          <p:nvPr/>
        </p:nvSpPr>
        <p:spPr>
          <a:xfrm>
            <a:off x="1005840" y="5582031"/>
            <a:ext cx="10180015" cy="8001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3AFA8250-69C7-8198-C21C-6933CA49B628}"/>
              </a:ext>
            </a:extLst>
          </p:cNvPr>
          <p:cNvSpPr/>
          <p:nvPr/>
        </p:nvSpPr>
        <p:spPr>
          <a:xfrm>
            <a:off x="1390497" y="5753481"/>
            <a:ext cx="9410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ý: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validate input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EEE76B4-A649-C115-776F-856753D2C717}"/>
              </a:ext>
            </a:extLst>
          </p:cNvPr>
          <p:cNvSpPr/>
          <p:nvPr/>
        </p:nvSpPr>
        <p:spPr>
          <a:xfrm>
            <a:off x="6828660" y="2047875"/>
            <a:ext cx="4730420" cy="27432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7A2BD07-1715-7420-070F-03395A063354}"/>
              </a:ext>
            </a:extLst>
          </p:cNvPr>
          <p:cNvSpPr/>
          <p:nvPr/>
        </p:nvSpPr>
        <p:spPr>
          <a:xfrm>
            <a:off x="7148700" y="2212467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</a:t>
            </a:r>
            <a:r>
              <a:rPr lang="en-US" sz="11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dụ</a:t>
            </a: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Menu</a:t>
            </a:r>
            <a:endParaRPr lang="en-US" sz="11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BB69642-9382-6F45-D680-36CDCC82901D}"/>
              </a:ext>
            </a:extLst>
          </p:cNvPr>
          <p:cNvSpPr/>
          <p:nvPr/>
        </p:nvSpPr>
        <p:spPr>
          <a:xfrm>
            <a:off x="7148700" y="2486787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vi-VN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===== MENU THUẬT TOÁN =====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vi-VN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1. Two Sum (Tìm cặp số có tổng bằng K)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vi-VN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2. Move Zeroes (Dồn số 0 về cuối)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vi-VN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3. Valid Palindrome (Chuỗi đối xứng)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4. Reverse Words 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Đảo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ngược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từ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5. Happy Number 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hạnh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phúc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0.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Thoát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Chọn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chức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năng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57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63F0-BD34-AAC7-B72D-5708EB98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D753DC4-92D2-EB78-8057-3DC1B7FA3E0B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tả tổng quan hệ thống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FE13E8-28D9-29F2-99FC-D7284AB99877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CD0121-29E0-02D4-C6AB-EF776484DA5A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Overall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6A2C34-2A29-8F4A-A2AF-4B458CEC18E7}"/>
              </a:ext>
            </a:extLst>
          </p:cNvPr>
          <p:cNvSpPr/>
          <p:nvPr/>
        </p:nvSpPr>
        <p:spPr>
          <a:xfrm>
            <a:off x="1005840" y="1293495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Danh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sách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chức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năng</a:t>
            </a:r>
            <a:endParaRPr lang="en-US" sz="24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3FE42C5-3C11-D70D-15BF-D480EC8D4A45}"/>
              </a:ext>
            </a:extLst>
          </p:cNvPr>
          <p:cNvSpPr/>
          <p:nvPr/>
        </p:nvSpPr>
        <p:spPr>
          <a:xfrm>
            <a:off x="878812" y="1874519"/>
            <a:ext cx="3270194" cy="444627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11C24F1-70DC-6E3B-D7C3-0089905D626E}"/>
              </a:ext>
            </a:extLst>
          </p:cNvPr>
          <p:cNvSpPr/>
          <p:nvPr/>
        </p:nvSpPr>
        <p:spPr>
          <a:xfrm>
            <a:off x="1056668" y="2217029"/>
            <a:ext cx="2887555" cy="3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Nhóm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1: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Mảng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49498D4D-B4E5-DF0D-517F-5A859A26FE87}"/>
              </a:ext>
            </a:extLst>
          </p:cNvPr>
          <p:cNvSpPr/>
          <p:nvPr/>
        </p:nvSpPr>
        <p:spPr>
          <a:xfrm>
            <a:off x="1056667" y="2881580"/>
            <a:ext cx="2887555" cy="2432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FR1:  Two Sum</a:t>
            </a: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FR2: Move Zeroes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3592454-6512-5B77-7256-C67CAEADA034}"/>
              </a:ext>
            </a:extLst>
          </p:cNvPr>
          <p:cNvSpPr/>
          <p:nvPr/>
        </p:nvSpPr>
        <p:spPr>
          <a:xfrm>
            <a:off x="8018752" y="1874519"/>
            <a:ext cx="3270194" cy="444627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C407953-AE59-9B8E-F9C6-5D5380AFFF06}"/>
              </a:ext>
            </a:extLst>
          </p:cNvPr>
          <p:cNvSpPr/>
          <p:nvPr/>
        </p:nvSpPr>
        <p:spPr>
          <a:xfrm>
            <a:off x="8196607" y="2881580"/>
            <a:ext cx="2887555" cy="2432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FR5: Happy Number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DA12CD5C-C014-BCD2-B3EE-0B3827A98EF3}"/>
              </a:ext>
            </a:extLst>
          </p:cNvPr>
          <p:cNvSpPr/>
          <p:nvPr/>
        </p:nvSpPr>
        <p:spPr>
          <a:xfrm>
            <a:off x="4460903" y="1874519"/>
            <a:ext cx="3270194" cy="444627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C206435-1922-CE17-BC2A-CE490EA57F6A}"/>
              </a:ext>
            </a:extLst>
          </p:cNvPr>
          <p:cNvSpPr/>
          <p:nvPr/>
        </p:nvSpPr>
        <p:spPr>
          <a:xfrm>
            <a:off x="4638759" y="2217029"/>
            <a:ext cx="2887555" cy="3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Nhóm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2: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Chuỗi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và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Regex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8F3B158-5A04-3E11-4B02-A2DB2B8C3D66}"/>
              </a:ext>
            </a:extLst>
          </p:cNvPr>
          <p:cNvSpPr/>
          <p:nvPr/>
        </p:nvSpPr>
        <p:spPr>
          <a:xfrm>
            <a:off x="4638758" y="2881580"/>
            <a:ext cx="2887555" cy="2432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FR3: Valid Palindrome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FR4: Reverse Words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F763AB5-EC95-4430-83FE-C0316B35A9FA}"/>
              </a:ext>
            </a:extLst>
          </p:cNvPr>
          <p:cNvSpPr/>
          <p:nvPr/>
        </p:nvSpPr>
        <p:spPr>
          <a:xfrm>
            <a:off x="8196607" y="2217029"/>
            <a:ext cx="2887555" cy="3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Nhóm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3: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Số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học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và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Phòng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lặp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1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FR1 • Two Sum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0384" y="785241"/>
            <a:ext cx="1001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FR1 — Tìm cặp số có tổng bằng K (Two Sum)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1903095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0" name="Text 8"/>
          <p:cNvSpPr/>
          <p:nvPr/>
        </p:nvSpPr>
        <p:spPr>
          <a:xfrm>
            <a:off x="1090384" y="1944243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384" y="2358390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`target`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BDA160CA-2015-A0C3-FE33-DBAE923EFCA1}"/>
              </a:ext>
            </a:extLst>
          </p:cNvPr>
          <p:cNvSpPr/>
          <p:nvPr/>
        </p:nvSpPr>
        <p:spPr>
          <a:xfrm>
            <a:off x="1005840" y="325297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A1195AD-25F6-527E-DB17-90E543BB7737}"/>
              </a:ext>
            </a:extLst>
          </p:cNvPr>
          <p:cNvSpPr/>
          <p:nvPr/>
        </p:nvSpPr>
        <p:spPr>
          <a:xfrm>
            <a:off x="1090384" y="3298698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lý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179433B-1060-26CA-32B0-AEBC0020C9D3}"/>
              </a:ext>
            </a:extLst>
          </p:cNvPr>
          <p:cNvSpPr/>
          <p:nvPr/>
        </p:nvSpPr>
        <p:spPr>
          <a:xfrm>
            <a:off x="1090384" y="3708273"/>
            <a:ext cx="42817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rỗng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2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tử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C3F4A66-7618-CA0C-85A7-E46FA88B1689}"/>
              </a:ext>
            </a:extLst>
          </p:cNvPr>
          <p:cNvSpPr/>
          <p:nvPr/>
        </p:nvSpPr>
        <p:spPr>
          <a:xfrm>
            <a:off x="1005840" y="5099304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A95DC0F0-BE4B-98D2-9AC9-16DF820903F5}"/>
              </a:ext>
            </a:extLst>
          </p:cNvPr>
          <p:cNvSpPr/>
          <p:nvPr/>
        </p:nvSpPr>
        <p:spPr>
          <a:xfrm>
            <a:off x="1090384" y="5145024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262CB739-EF8A-35B5-74D5-766FCBF03A1A}"/>
              </a:ext>
            </a:extLst>
          </p:cNvPr>
          <p:cNvSpPr/>
          <p:nvPr/>
        </p:nvSpPr>
        <p:spPr>
          <a:xfrm>
            <a:off x="1090384" y="5554599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j)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“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52CAFC7E-CB6F-7A27-4356-AA0C26A4F2FF}"/>
              </a:ext>
            </a:extLst>
          </p:cNvPr>
          <p:cNvSpPr/>
          <p:nvPr/>
        </p:nvSpPr>
        <p:spPr>
          <a:xfrm>
            <a:off x="6263640" y="1907667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52030B7B-6A65-5CEA-BF98-B72B8146A645}"/>
              </a:ext>
            </a:extLst>
          </p:cNvPr>
          <p:cNvSpPr/>
          <p:nvPr/>
        </p:nvSpPr>
        <p:spPr>
          <a:xfrm>
            <a:off x="6348184" y="1953387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Thúc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FF1D71DD-8A35-2FA6-8A3A-9959F7A9B130}"/>
              </a:ext>
            </a:extLst>
          </p:cNvPr>
          <p:cNvSpPr/>
          <p:nvPr/>
        </p:nvSpPr>
        <p:spPr>
          <a:xfrm>
            <a:off x="6348184" y="2362962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96261BA2-BCC6-2608-2187-84DA61656D52}"/>
              </a:ext>
            </a:extLst>
          </p:cNvPr>
          <p:cNvSpPr/>
          <p:nvPr/>
        </p:nvSpPr>
        <p:spPr>
          <a:xfrm>
            <a:off x="6263640" y="329869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BBDF5615-DA38-6EB1-5D8C-DC90E9086E73}"/>
              </a:ext>
            </a:extLst>
          </p:cNvPr>
          <p:cNvSpPr/>
          <p:nvPr/>
        </p:nvSpPr>
        <p:spPr>
          <a:xfrm>
            <a:off x="6348184" y="3339846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6D578B3D-728B-5945-6653-51C54B4CE511}"/>
              </a:ext>
            </a:extLst>
          </p:cNvPr>
          <p:cNvSpPr/>
          <p:nvPr/>
        </p:nvSpPr>
        <p:spPr>
          <a:xfrm>
            <a:off x="6348184" y="3753993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+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[j] = target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tử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endParaRPr lang="en-US" sz="15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tử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phía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 =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</a:t>
            </a: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lvl="1">
              <a:lnSpc>
                <a:spcPct val="112000"/>
              </a:lnSpc>
              <a:spcAft>
                <a:spcPts val="400"/>
              </a:spcAft>
              <a:buSzPct val="100000"/>
            </a:pP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+ 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[j] == target → 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5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endParaRPr lang="en-US" sz="1500" b="1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endParaRPr lang="en-US" sz="15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6084D035-1E4E-3F60-8E49-AD8822382DB8}"/>
              </a:ext>
            </a:extLst>
          </p:cNvPr>
          <p:cNvSpPr/>
          <p:nvPr/>
        </p:nvSpPr>
        <p:spPr>
          <a:xfrm>
            <a:off x="1090384" y="1242441"/>
            <a:ext cx="1207008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43D9AF93-A742-E323-F91C-5AFA411BC7F9}"/>
              </a:ext>
            </a:extLst>
          </p:cNvPr>
          <p:cNvSpPr/>
          <p:nvPr/>
        </p:nvSpPr>
        <p:spPr>
          <a:xfrm>
            <a:off x="1318984" y="1297305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Mảng</a:t>
            </a:r>
            <a:endParaRPr lang="en-US" sz="10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9792AE36-5809-B357-A4CA-CBE2193ADAD1}"/>
              </a:ext>
            </a:extLst>
          </p:cNvPr>
          <p:cNvSpPr/>
          <p:nvPr/>
        </p:nvSpPr>
        <p:spPr>
          <a:xfrm>
            <a:off x="2434552" y="1242441"/>
            <a:ext cx="1700784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DBEEC8CF-435B-4B1F-E64D-D862D566025C}"/>
              </a:ext>
            </a:extLst>
          </p:cNvPr>
          <p:cNvSpPr/>
          <p:nvPr/>
        </p:nvSpPr>
        <p:spPr>
          <a:xfrm>
            <a:off x="2663152" y="1297305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HashMap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2DF2-FB67-7E21-8D1C-A1C2538A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8EA9C55-9A55-5D12-3D8B-4FD845F9D158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FC0883-D720-A593-782B-A4EE9B2FDF22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1DE175-160C-225A-52CF-6D650AC3DACB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FR2 • Move Zeroes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D4FFDB-3EDD-2A0B-4EFD-EF091136C493}"/>
              </a:ext>
            </a:extLst>
          </p:cNvPr>
          <p:cNvSpPr/>
          <p:nvPr/>
        </p:nvSpPr>
        <p:spPr>
          <a:xfrm>
            <a:off x="1090384" y="785241"/>
            <a:ext cx="1001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FR2 —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Dồn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số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0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về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cuối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mảng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(Move Zeroes)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619587-8300-3A5D-89E9-2C53DB385A22}"/>
              </a:ext>
            </a:extLst>
          </p:cNvPr>
          <p:cNvSpPr/>
          <p:nvPr/>
        </p:nvSpPr>
        <p:spPr>
          <a:xfrm>
            <a:off x="1005840" y="1903095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9BD919-9DDE-E7B9-21C6-FDF02B0B75F0}"/>
              </a:ext>
            </a:extLst>
          </p:cNvPr>
          <p:cNvSpPr/>
          <p:nvPr/>
        </p:nvSpPr>
        <p:spPr>
          <a:xfrm>
            <a:off x="1090384" y="1944243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C342850-3101-4A9B-DD23-D80F4A07C7BC}"/>
              </a:ext>
            </a:extLst>
          </p:cNvPr>
          <p:cNvSpPr/>
          <p:nvPr/>
        </p:nvSpPr>
        <p:spPr>
          <a:xfrm>
            <a:off x="1090384" y="2358390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97A727BE-3F7B-03B7-7F9D-25E3C77A19F4}"/>
              </a:ext>
            </a:extLst>
          </p:cNvPr>
          <p:cNvSpPr/>
          <p:nvPr/>
        </p:nvSpPr>
        <p:spPr>
          <a:xfrm>
            <a:off x="1005840" y="325297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49B8B2F-2B53-AFB3-6BA0-472BD04B35A9}"/>
              </a:ext>
            </a:extLst>
          </p:cNvPr>
          <p:cNvSpPr/>
          <p:nvPr/>
        </p:nvSpPr>
        <p:spPr>
          <a:xfrm>
            <a:off x="1090384" y="3298698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lý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B809806-2D70-F27E-AA2C-4CBC487C4FC3}"/>
              </a:ext>
            </a:extLst>
          </p:cNvPr>
          <p:cNvSpPr/>
          <p:nvPr/>
        </p:nvSpPr>
        <p:spPr>
          <a:xfrm>
            <a:off x="1090384" y="3708273"/>
            <a:ext cx="42817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F4ADAE4E-3887-F395-67F9-24E1EE12B54F}"/>
              </a:ext>
            </a:extLst>
          </p:cNvPr>
          <p:cNvSpPr/>
          <p:nvPr/>
        </p:nvSpPr>
        <p:spPr>
          <a:xfrm>
            <a:off x="1005840" y="5099304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7B50BD2-CBBA-0C4C-88ED-C8F1E2F472FB}"/>
              </a:ext>
            </a:extLst>
          </p:cNvPr>
          <p:cNvSpPr/>
          <p:nvPr/>
        </p:nvSpPr>
        <p:spPr>
          <a:xfrm>
            <a:off x="1090384" y="5145024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8458E1C2-DA3F-3C64-8B31-D99185CAD52A}"/>
              </a:ext>
            </a:extLst>
          </p:cNvPr>
          <p:cNvSpPr/>
          <p:nvPr/>
        </p:nvSpPr>
        <p:spPr>
          <a:xfrm>
            <a:off x="1090384" y="5554599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7680EE31-9A19-3674-FBCC-DE1397A77DD5}"/>
              </a:ext>
            </a:extLst>
          </p:cNvPr>
          <p:cNvSpPr/>
          <p:nvPr/>
        </p:nvSpPr>
        <p:spPr>
          <a:xfrm>
            <a:off x="6263640" y="1907667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13F3E51A-D98F-7A07-1871-024FCAE8D49C}"/>
              </a:ext>
            </a:extLst>
          </p:cNvPr>
          <p:cNvSpPr/>
          <p:nvPr/>
        </p:nvSpPr>
        <p:spPr>
          <a:xfrm>
            <a:off x="6348184" y="1953387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Thúc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8225556C-870B-C86C-1184-EDEDB4602055}"/>
              </a:ext>
            </a:extLst>
          </p:cNvPr>
          <p:cNvSpPr/>
          <p:nvPr/>
        </p:nvSpPr>
        <p:spPr>
          <a:xfrm>
            <a:off x="6348184" y="2362962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A31992F8-4C11-865A-4C06-2B086332E0E7}"/>
              </a:ext>
            </a:extLst>
          </p:cNvPr>
          <p:cNvSpPr/>
          <p:nvPr/>
        </p:nvSpPr>
        <p:spPr>
          <a:xfrm>
            <a:off x="6263640" y="329869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75B30ADB-EC35-796E-916B-9FCE1CAC6D1E}"/>
              </a:ext>
            </a:extLst>
          </p:cNvPr>
          <p:cNvSpPr/>
          <p:nvPr/>
        </p:nvSpPr>
        <p:spPr>
          <a:xfrm>
            <a:off x="6348184" y="3339846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3B975FD-AF22-4652-6F7C-27552DC9EF39}"/>
              </a:ext>
            </a:extLst>
          </p:cNvPr>
          <p:cNvSpPr/>
          <p:nvPr/>
        </p:nvSpPr>
        <p:spPr>
          <a:xfrm>
            <a:off x="6348184" y="3753993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dồn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(index = 0)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!= 0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[index] =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], tang index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index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F2DAC576-6BC4-CDBA-EFDA-1CEAB7A56ADC}"/>
              </a:ext>
            </a:extLst>
          </p:cNvPr>
          <p:cNvSpPr/>
          <p:nvPr/>
        </p:nvSpPr>
        <p:spPr>
          <a:xfrm>
            <a:off x="1090384" y="1242441"/>
            <a:ext cx="1207008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5377267F-D151-A346-3F98-384E3FD5E49B}"/>
              </a:ext>
            </a:extLst>
          </p:cNvPr>
          <p:cNvSpPr/>
          <p:nvPr/>
        </p:nvSpPr>
        <p:spPr>
          <a:xfrm>
            <a:off x="1318984" y="1297305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Mảng</a:t>
            </a:r>
            <a:endParaRPr lang="en-US" sz="10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34E5E41A-083A-9F8A-0257-C6FFCCE42543}"/>
              </a:ext>
            </a:extLst>
          </p:cNvPr>
          <p:cNvSpPr/>
          <p:nvPr/>
        </p:nvSpPr>
        <p:spPr>
          <a:xfrm>
            <a:off x="2434552" y="1242441"/>
            <a:ext cx="2029968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0B3CAAB-E3C8-FC0B-88FC-68F99E72FA13}"/>
              </a:ext>
            </a:extLst>
          </p:cNvPr>
          <p:cNvSpPr/>
          <p:nvPr/>
        </p:nvSpPr>
        <p:spPr>
          <a:xfrm>
            <a:off x="2663152" y="1297305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con trỏ</a:t>
            </a:r>
            <a:endParaRPr lang="en-US" sz="1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37888D6-7EEC-67F9-A6FF-88951889ACA4}"/>
              </a:ext>
            </a:extLst>
          </p:cNvPr>
          <p:cNvSpPr/>
          <p:nvPr/>
        </p:nvSpPr>
        <p:spPr>
          <a:xfrm>
            <a:off x="4601680" y="1242441"/>
            <a:ext cx="1865376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A7F1470-1E6E-2E94-4F38-2995FAB06E33}"/>
              </a:ext>
            </a:extLst>
          </p:cNvPr>
          <p:cNvSpPr/>
          <p:nvPr/>
        </p:nvSpPr>
        <p:spPr>
          <a:xfrm>
            <a:off x="4830280" y="1297305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In-place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4863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57A6-ABBC-367A-8A91-D018B425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E171F90-7DAA-9231-029D-351B7DC20121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BF708C-A813-B468-2E2E-D449390045F0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1F0143-D6FE-085A-1E65-EFA78F786B4E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FR3 • Valid Palindrome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2B1A6A-D46A-7D70-637D-4ED6E480A47A}"/>
              </a:ext>
            </a:extLst>
          </p:cNvPr>
          <p:cNvSpPr/>
          <p:nvPr/>
        </p:nvSpPr>
        <p:spPr>
          <a:xfrm>
            <a:off x="1090384" y="785241"/>
            <a:ext cx="1001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FR3 —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Kiểm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chuỗi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đối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xứng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(Valid Palindrome)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2BF1646-3315-B0D3-FCD2-A22C19ACFA8A}"/>
              </a:ext>
            </a:extLst>
          </p:cNvPr>
          <p:cNvSpPr/>
          <p:nvPr/>
        </p:nvSpPr>
        <p:spPr>
          <a:xfrm>
            <a:off x="1005840" y="1903095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C39F4E-4103-9DE3-9B50-6094F96CD0BF}"/>
              </a:ext>
            </a:extLst>
          </p:cNvPr>
          <p:cNvSpPr/>
          <p:nvPr/>
        </p:nvSpPr>
        <p:spPr>
          <a:xfrm>
            <a:off x="1090384" y="1944243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0030BE-76CB-C3AE-7CAE-F90A2335EDAE}"/>
              </a:ext>
            </a:extLst>
          </p:cNvPr>
          <p:cNvSpPr/>
          <p:nvPr/>
        </p:nvSpPr>
        <p:spPr>
          <a:xfrm>
            <a:off x="1090384" y="2358390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75B46A4B-3A29-C4CA-FB3D-BBFF590C67D5}"/>
              </a:ext>
            </a:extLst>
          </p:cNvPr>
          <p:cNvSpPr/>
          <p:nvPr/>
        </p:nvSpPr>
        <p:spPr>
          <a:xfrm>
            <a:off x="1005840" y="325297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31DAD6E-C796-61DE-79B2-9898F0DFE8FA}"/>
              </a:ext>
            </a:extLst>
          </p:cNvPr>
          <p:cNvSpPr/>
          <p:nvPr/>
        </p:nvSpPr>
        <p:spPr>
          <a:xfrm>
            <a:off x="1090384" y="3298698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lý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55DAC7CA-E3EE-9C7B-42AE-E66D17265012}"/>
              </a:ext>
            </a:extLst>
          </p:cNvPr>
          <p:cNvSpPr/>
          <p:nvPr/>
        </p:nvSpPr>
        <p:spPr>
          <a:xfrm>
            <a:off x="1090383" y="3708273"/>
            <a:ext cx="4329341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rỗng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rỗng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F0B2C1B2-6305-A125-975B-92BFDDBA05EC}"/>
              </a:ext>
            </a:extLst>
          </p:cNvPr>
          <p:cNvSpPr/>
          <p:nvPr/>
        </p:nvSpPr>
        <p:spPr>
          <a:xfrm>
            <a:off x="1005840" y="5099304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7762DA17-AF77-E7ED-8D8D-9DCA7C162564}"/>
              </a:ext>
            </a:extLst>
          </p:cNvPr>
          <p:cNvSpPr/>
          <p:nvPr/>
        </p:nvSpPr>
        <p:spPr>
          <a:xfrm>
            <a:off x="1090384" y="5145024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B1EF633E-AC0D-64EE-E398-AF9F52EC9076}"/>
              </a:ext>
            </a:extLst>
          </p:cNvPr>
          <p:cNvSpPr/>
          <p:nvPr/>
        </p:nvSpPr>
        <p:spPr>
          <a:xfrm>
            <a:off x="1090384" y="5554599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 True/False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A100110E-447D-072C-1F4F-8B6CFFD41FDE}"/>
              </a:ext>
            </a:extLst>
          </p:cNvPr>
          <p:cNvSpPr/>
          <p:nvPr/>
        </p:nvSpPr>
        <p:spPr>
          <a:xfrm>
            <a:off x="6263640" y="1907667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B1104274-E417-4653-4907-6606090BB790}"/>
              </a:ext>
            </a:extLst>
          </p:cNvPr>
          <p:cNvSpPr/>
          <p:nvPr/>
        </p:nvSpPr>
        <p:spPr>
          <a:xfrm>
            <a:off x="6348184" y="1953387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Thúc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217C36F-11DF-F618-D154-2CB0866F96B9}"/>
              </a:ext>
            </a:extLst>
          </p:cNvPr>
          <p:cNvSpPr/>
          <p:nvPr/>
        </p:nvSpPr>
        <p:spPr>
          <a:xfrm>
            <a:off x="6348184" y="2362962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172AEED4-D7B1-C52D-6920-857BEB663BDB}"/>
              </a:ext>
            </a:extLst>
          </p:cNvPr>
          <p:cNvSpPr/>
          <p:nvPr/>
        </p:nvSpPr>
        <p:spPr>
          <a:xfrm>
            <a:off x="6263640" y="329869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41AE4FC5-8E5A-3033-633C-E25D017D60AF}"/>
              </a:ext>
            </a:extLst>
          </p:cNvPr>
          <p:cNvSpPr/>
          <p:nvPr/>
        </p:nvSpPr>
        <p:spPr>
          <a:xfrm>
            <a:off x="6348184" y="3339846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2FCC7325-99CC-66B9-CEAD-2C0D937DB2CB}"/>
              </a:ext>
            </a:extLst>
          </p:cNvPr>
          <p:cNvSpPr/>
          <p:nvPr/>
        </p:nvSpPr>
        <p:spPr>
          <a:xfrm>
            <a:off x="6348184" y="3753993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Regex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Pointers: so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dần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xứng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xứng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8CC46278-88C8-188F-0295-1D0956D65DE2}"/>
              </a:ext>
            </a:extLst>
          </p:cNvPr>
          <p:cNvSpPr/>
          <p:nvPr/>
        </p:nvSpPr>
        <p:spPr>
          <a:xfrm>
            <a:off x="1090384" y="1242441"/>
            <a:ext cx="23591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558E35B8-311C-6A24-EC6E-DB2313798882}"/>
              </a:ext>
            </a:extLst>
          </p:cNvPr>
          <p:cNvSpPr/>
          <p:nvPr/>
        </p:nvSpPr>
        <p:spPr>
          <a:xfrm>
            <a:off x="1318984" y="1297305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Chuỗi/Regex</a:t>
            </a:r>
            <a:endParaRPr lang="en-US" sz="10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03F7BCAE-AA08-D8E6-9E14-6B1E20176FEC}"/>
              </a:ext>
            </a:extLst>
          </p:cNvPr>
          <p:cNvSpPr/>
          <p:nvPr/>
        </p:nvSpPr>
        <p:spPr>
          <a:xfrm>
            <a:off x="3586696" y="1242441"/>
            <a:ext cx="2194560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C278AD4-641D-02BD-BD0D-C3D8B512F98C}"/>
              </a:ext>
            </a:extLst>
          </p:cNvPr>
          <p:cNvSpPr/>
          <p:nvPr/>
        </p:nvSpPr>
        <p:spPr>
          <a:xfrm>
            <a:off x="3815296" y="1297305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+ 2P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535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D08D-CD80-DDAF-BEEF-D0CC1BF0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6976DD2-066A-9AC5-E3C9-9DEF46B8B14C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65AE79-AC16-41C0-5038-D3F93C19B0B6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501AB1-5847-AA45-95B4-2F9F44434E25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FR4 • Reverse Words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1A1112-9DA0-7AFC-273E-9D4D78D5B08D}"/>
              </a:ext>
            </a:extLst>
          </p:cNvPr>
          <p:cNvSpPr/>
          <p:nvPr/>
        </p:nvSpPr>
        <p:spPr>
          <a:xfrm>
            <a:off x="1090384" y="785241"/>
            <a:ext cx="1001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FR4 —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Đảo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ngược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từ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trong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câu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(Reverse Words)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4396CB-B6B5-FE80-3F86-2DEAAB5BEF4D}"/>
              </a:ext>
            </a:extLst>
          </p:cNvPr>
          <p:cNvSpPr/>
          <p:nvPr/>
        </p:nvSpPr>
        <p:spPr>
          <a:xfrm>
            <a:off x="1005840" y="1903095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88A4E8-D4F8-1663-0E76-ED362F89C888}"/>
              </a:ext>
            </a:extLst>
          </p:cNvPr>
          <p:cNvSpPr/>
          <p:nvPr/>
        </p:nvSpPr>
        <p:spPr>
          <a:xfrm>
            <a:off x="1090384" y="1944243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1EA1A1-481F-4962-5D42-808646A1BC6F}"/>
              </a:ext>
            </a:extLst>
          </p:cNvPr>
          <p:cNvSpPr/>
          <p:nvPr/>
        </p:nvSpPr>
        <p:spPr>
          <a:xfrm>
            <a:off x="1090384" y="2358390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thừa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17E1DD4E-233E-35BA-5B9D-B1B06FC29A87}"/>
              </a:ext>
            </a:extLst>
          </p:cNvPr>
          <p:cNvSpPr/>
          <p:nvPr/>
        </p:nvSpPr>
        <p:spPr>
          <a:xfrm>
            <a:off x="1005840" y="325297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3845F91B-1B86-E5F2-F9B0-B49115E90AB7}"/>
              </a:ext>
            </a:extLst>
          </p:cNvPr>
          <p:cNvSpPr/>
          <p:nvPr/>
        </p:nvSpPr>
        <p:spPr>
          <a:xfrm>
            <a:off x="1090384" y="3298698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lý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63D46DB-92A5-9207-BDBF-7316C0A10E3F}"/>
              </a:ext>
            </a:extLst>
          </p:cNvPr>
          <p:cNvSpPr/>
          <p:nvPr/>
        </p:nvSpPr>
        <p:spPr>
          <a:xfrm>
            <a:off x="1090383" y="3708273"/>
            <a:ext cx="4624617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rỗng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đảo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3C742F7B-CB87-CDF3-B442-400D74C80891}"/>
              </a:ext>
            </a:extLst>
          </p:cNvPr>
          <p:cNvSpPr/>
          <p:nvPr/>
        </p:nvSpPr>
        <p:spPr>
          <a:xfrm>
            <a:off x="1005840" y="5099304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82758925-888B-36BE-F7C7-AD55E02EBA17}"/>
              </a:ext>
            </a:extLst>
          </p:cNvPr>
          <p:cNvSpPr/>
          <p:nvPr/>
        </p:nvSpPr>
        <p:spPr>
          <a:xfrm>
            <a:off x="1090384" y="5145024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A5A45083-49C9-E575-5914-705AC34C1B67}"/>
              </a:ext>
            </a:extLst>
          </p:cNvPr>
          <p:cNvSpPr/>
          <p:nvPr/>
        </p:nvSpPr>
        <p:spPr>
          <a:xfrm>
            <a:off x="1090384" y="5554599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 world hello " → "hello world")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904CCCAF-926E-1EC2-A764-5E3CE065B61B}"/>
              </a:ext>
            </a:extLst>
          </p:cNvPr>
          <p:cNvSpPr/>
          <p:nvPr/>
        </p:nvSpPr>
        <p:spPr>
          <a:xfrm>
            <a:off x="6263640" y="1907667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63A4DF0A-CEC7-A7F2-71B7-EC5D589E836C}"/>
              </a:ext>
            </a:extLst>
          </p:cNvPr>
          <p:cNvSpPr/>
          <p:nvPr/>
        </p:nvSpPr>
        <p:spPr>
          <a:xfrm>
            <a:off x="6348184" y="1953387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Thúc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A4D7F1FE-DBA1-A269-7E5C-292B1CB07D23}"/>
              </a:ext>
            </a:extLst>
          </p:cNvPr>
          <p:cNvSpPr/>
          <p:nvPr/>
        </p:nvSpPr>
        <p:spPr>
          <a:xfrm>
            <a:off x="6348184" y="2362962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9D4DF8FB-D850-471D-7B71-DAFB4563F008}"/>
              </a:ext>
            </a:extLst>
          </p:cNvPr>
          <p:cNvSpPr/>
          <p:nvPr/>
        </p:nvSpPr>
        <p:spPr>
          <a:xfrm>
            <a:off x="6263640" y="329869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7830BFF1-523F-F3C5-00D5-46AC22D85E8B}"/>
              </a:ext>
            </a:extLst>
          </p:cNvPr>
          <p:cNvSpPr/>
          <p:nvPr/>
        </p:nvSpPr>
        <p:spPr>
          <a:xfrm>
            <a:off x="6348184" y="3339846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FA763AFF-A8A4-BBA2-26F0-D4CCB4E66E2B}"/>
              </a:ext>
            </a:extLst>
          </p:cNvPr>
          <p:cNvSpPr/>
          <p:nvPr/>
        </p:nvSpPr>
        <p:spPr>
          <a:xfrm>
            <a:off x="6348184" y="3753993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Regex/String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thừa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ngược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đảo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717B314C-9DB2-52F9-B931-8F464669F2DE}"/>
              </a:ext>
            </a:extLst>
          </p:cNvPr>
          <p:cNvSpPr/>
          <p:nvPr/>
        </p:nvSpPr>
        <p:spPr>
          <a:xfrm>
            <a:off x="1090384" y="1242441"/>
            <a:ext cx="1371600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B050FA25-5F45-193A-EB21-71B27E574DF2}"/>
              </a:ext>
            </a:extLst>
          </p:cNvPr>
          <p:cNvSpPr/>
          <p:nvPr/>
        </p:nvSpPr>
        <p:spPr>
          <a:xfrm>
            <a:off x="1318984" y="1297305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Chuỗi</a:t>
            </a:r>
            <a:endParaRPr lang="en-US" sz="10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8A664E94-FFC6-4047-1FF9-2B6328241388}"/>
              </a:ext>
            </a:extLst>
          </p:cNvPr>
          <p:cNvSpPr/>
          <p:nvPr/>
        </p:nvSpPr>
        <p:spPr>
          <a:xfrm>
            <a:off x="2599144" y="1242441"/>
            <a:ext cx="2523744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5E68A91-AEE3-BCB9-7D6C-F135B8B90EF9}"/>
              </a:ext>
            </a:extLst>
          </p:cNvPr>
          <p:cNvSpPr/>
          <p:nvPr/>
        </p:nvSpPr>
        <p:spPr>
          <a:xfrm>
            <a:off x="2827744" y="1297305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&amp; split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5907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2C86-FA7E-6CF3-0066-EA05ECF3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8571BD6-5D86-4992-FB16-165333E14DE5}"/>
              </a:ext>
            </a:extLst>
          </p:cNvPr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73305C-81BF-129B-EC72-57507FE5D9D9}"/>
              </a:ext>
            </a:extLst>
          </p:cNvPr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3693A2-3B5D-4C9A-E3B7-940F0BAD6298}"/>
              </a:ext>
            </a:extLst>
          </p:cNvPr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FR5 • Happy Number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7B96E6-4298-50B0-166A-E7B87C516611}"/>
              </a:ext>
            </a:extLst>
          </p:cNvPr>
          <p:cNvSpPr/>
          <p:nvPr/>
        </p:nvSpPr>
        <p:spPr>
          <a:xfrm>
            <a:off x="1090384" y="785241"/>
            <a:ext cx="1001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FR5 —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Số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hạnh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phúc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(Happy Number)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014A86-8EFD-7C4E-9250-4B2DDF3D03A5}"/>
              </a:ext>
            </a:extLst>
          </p:cNvPr>
          <p:cNvSpPr/>
          <p:nvPr/>
        </p:nvSpPr>
        <p:spPr>
          <a:xfrm>
            <a:off x="1005840" y="1903095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D5D616-5491-606D-9137-01E824FA6D44}"/>
              </a:ext>
            </a:extLst>
          </p:cNvPr>
          <p:cNvSpPr/>
          <p:nvPr/>
        </p:nvSpPr>
        <p:spPr>
          <a:xfrm>
            <a:off x="1090384" y="1944243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C59AD07-B547-682F-1BA1-F99F39927F97}"/>
              </a:ext>
            </a:extLst>
          </p:cNvPr>
          <p:cNvSpPr/>
          <p:nvPr/>
        </p:nvSpPr>
        <p:spPr>
          <a:xfrm>
            <a:off x="1090384" y="2358390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dương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`n`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14103BD-D3BB-B190-0AC1-56DACF22B861}"/>
              </a:ext>
            </a:extLst>
          </p:cNvPr>
          <p:cNvSpPr/>
          <p:nvPr/>
        </p:nvSpPr>
        <p:spPr>
          <a:xfrm>
            <a:off x="1005840" y="325297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B5A6B48-D23A-D235-E4BF-A78E03949C7A}"/>
              </a:ext>
            </a:extLst>
          </p:cNvPr>
          <p:cNvSpPr/>
          <p:nvPr/>
        </p:nvSpPr>
        <p:spPr>
          <a:xfrm>
            <a:off x="1090384" y="3298698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lý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D0FA0C8-2D71-F7AC-A17C-00280F3AA330}"/>
              </a:ext>
            </a:extLst>
          </p:cNvPr>
          <p:cNvSpPr/>
          <p:nvPr/>
        </p:nvSpPr>
        <p:spPr>
          <a:xfrm>
            <a:off x="1090383" y="3708273"/>
            <a:ext cx="4624617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≤ 0 →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lòng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dương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BA318393-D130-44DE-BBEE-BAC08A1BD970}"/>
              </a:ext>
            </a:extLst>
          </p:cNvPr>
          <p:cNvSpPr/>
          <p:nvPr/>
        </p:nvSpPr>
        <p:spPr>
          <a:xfrm>
            <a:off x="1005840" y="5099304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3522D93F-EE5E-1A5D-FEB0-4DB6C42F90E6}"/>
              </a:ext>
            </a:extLst>
          </p:cNvPr>
          <p:cNvSpPr/>
          <p:nvPr/>
        </p:nvSpPr>
        <p:spPr>
          <a:xfrm>
            <a:off x="1090384" y="5145024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12400AE-70CB-2FB8-5950-2861327E8DDC}"/>
              </a:ext>
            </a:extLst>
          </p:cNvPr>
          <p:cNvSpPr/>
          <p:nvPr/>
        </p:nvSpPr>
        <p:spPr>
          <a:xfrm>
            <a:off x="1090384" y="5554599"/>
            <a:ext cx="4624616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hạnh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phúc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EC285A20-CFC4-A774-D614-AB2891612560}"/>
              </a:ext>
            </a:extLst>
          </p:cNvPr>
          <p:cNvSpPr/>
          <p:nvPr/>
        </p:nvSpPr>
        <p:spPr>
          <a:xfrm>
            <a:off x="6263640" y="1907667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B0167C05-72D3-3A0A-6EB1-6C044AEBDD3E}"/>
              </a:ext>
            </a:extLst>
          </p:cNvPr>
          <p:cNvSpPr/>
          <p:nvPr/>
        </p:nvSpPr>
        <p:spPr>
          <a:xfrm>
            <a:off x="6348184" y="1953387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Thúc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A9E2317E-05FE-2A68-874D-E668FC0F17C5}"/>
              </a:ext>
            </a:extLst>
          </p:cNvPr>
          <p:cNvSpPr/>
          <p:nvPr/>
        </p:nvSpPr>
        <p:spPr>
          <a:xfrm>
            <a:off x="6348184" y="2362962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C731EE72-4A9F-5723-89A5-69B88ED3EC33}"/>
              </a:ext>
            </a:extLst>
          </p:cNvPr>
          <p:cNvSpPr/>
          <p:nvPr/>
        </p:nvSpPr>
        <p:spPr>
          <a:xfrm>
            <a:off x="6263640" y="3298698"/>
            <a:ext cx="191285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E7EF474A-75E7-AB37-A8B8-4F0B5C259568}"/>
              </a:ext>
            </a:extLst>
          </p:cNvPr>
          <p:cNvSpPr/>
          <p:nvPr/>
        </p:nvSpPr>
        <p:spPr>
          <a:xfrm>
            <a:off x="6348184" y="3339846"/>
            <a:ext cx="175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toán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A012372-B668-FC5A-609A-227FCB19DA51}"/>
              </a:ext>
            </a:extLst>
          </p:cNvPr>
          <p:cNvSpPr/>
          <p:nvPr/>
        </p:nvSpPr>
        <p:spPr>
          <a:xfrm>
            <a:off x="6348184" y="3753993"/>
            <a:ext cx="5394960" cy="603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tục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kĩ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slow-fast (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trỏ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  <a:p>
            <a:pPr marL="203200" indent="-2032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742950" lvl="1" indent="-285750">
              <a:lnSpc>
                <a:spcPct val="112000"/>
              </a:lnSpc>
              <a:spcAft>
                <a:spcPts val="400"/>
              </a:spcAft>
              <a:buSzPct val="100000"/>
              <a:buFontTx/>
              <a:buChar char="-"/>
            </a:pP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= 1 -&gt;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Hạnh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phúc</a:t>
            </a:r>
            <a:endParaRPr lang="en-US" sz="1500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lnSpc>
                <a:spcPct val="112000"/>
              </a:lnSpc>
              <a:spcAft>
                <a:spcPts val="400"/>
              </a:spcAft>
              <a:buSzPct val="100000"/>
              <a:buFontTx/>
              <a:buChar char="-"/>
            </a:pP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= fast (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1) -&gt;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Happy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B13A1E9-5AAD-357B-5C0D-E2A596332059}"/>
              </a:ext>
            </a:extLst>
          </p:cNvPr>
          <p:cNvSpPr/>
          <p:nvPr/>
        </p:nvSpPr>
        <p:spPr>
          <a:xfrm>
            <a:off x="1090383" y="1242441"/>
            <a:ext cx="153619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E1FD2CD-1F87-4AE0-1E1D-7100F82F6D4B}"/>
              </a:ext>
            </a:extLst>
          </p:cNvPr>
          <p:cNvSpPr/>
          <p:nvPr/>
        </p:nvSpPr>
        <p:spPr>
          <a:xfrm>
            <a:off x="1318983" y="1297305"/>
            <a:ext cx="1078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học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EEA3BC5-ACFF-D01D-4036-3F2B6C01C3A0}"/>
              </a:ext>
            </a:extLst>
          </p:cNvPr>
          <p:cNvSpPr/>
          <p:nvPr/>
        </p:nvSpPr>
        <p:spPr>
          <a:xfrm>
            <a:off x="2763735" y="1242441"/>
            <a:ext cx="3182112" cy="310896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A5EB279-1E55-753E-68E7-DEDEDC16606E}"/>
              </a:ext>
            </a:extLst>
          </p:cNvPr>
          <p:cNvSpPr/>
          <p:nvPr/>
        </p:nvSpPr>
        <p:spPr>
          <a:xfrm>
            <a:off x="2992335" y="1297305"/>
            <a:ext cx="2724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hiện chu kỳ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769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</a:t>
            </a: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luận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</a:t>
            </a: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cầu</a:t>
            </a: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kỹ</a:t>
            </a: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thuật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cầu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kỹ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thuật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7300" y="2057400"/>
            <a:ext cx="9677400" cy="27432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1417320" y="22219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7340" y="2221992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JDK 8+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`do-while`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`while`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`switch-case`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`String`, `StringBuilder`, `split()`, `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replaceAll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()`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sạch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79400" indent="-279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(Move Zeroes, Palindrome)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168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9855" y="164592"/>
            <a:ext cx="274320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899855" y="1920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9997135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dụng Console giúp “đóng gói” kiến thức Java cơ bản vào sản phẩm chạy được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bài toán đại diện 3 nhóm kỹ năng: mảng, chuỗi/regex, số học/vòng lặp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182880" indent="-18288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tương tác tạo trải nghiệm luyện tập liên tục và dễ mở rộng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076575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mở rộng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442335"/>
            <a:ext cx="3149498" cy="1962912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1371600" y="3643503"/>
            <a:ext cx="2600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Chất lượng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945255"/>
            <a:ext cx="25094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lớp: Menu / Input / Solver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Viết unit test (JUnit)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logging và validate input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21098" y="3442335"/>
            <a:ext cx="3149498" cy="1962912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4795418" y="3643503"/>
            <a:ext cx="2600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năng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1138" y="3945255"/>
            <a:ext cx="25094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“dữ liệu mẫu” để demo nhanh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phép đọc input từ file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thống kê thời gian chạy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44917" y="3442335"/>
            <a:ext cx="3149498" cy="1962912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2230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8219237" y="3643503"/>
            <a:ext cx="2600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rộng bài toán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4957" y="3945255"/>
            <a:ext cx="25094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Sliding Window / Stack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bài toán nâng cao (Medium)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137160" indent="-13716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lời giải theo từng bước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97280" y="5574030"/>
            <a:ext cx="9997135" cy="4572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097280" y="5665470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2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54B4E8B-FF8D-CBCF-0128-E012E9A7CC90}"/>
              </a:ext>
            </a:extLst>
          </p:cNvPr>
          <p:cNvSpPr/>
          <p:nvPr/>
        </p:nvSpPr>
        <p:spPr>
          <a:xfrm>
            <a:off x="1005840" y="141732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2783</Words>
  <Application>Microsoft Office PowerPoint</Application>
  <PresentationFormat>Widescreen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Console Java – Ôn tập Java cơ bản</dc:title>
  <dc:subject>Java Console App + 5 bài toán LeetCode</dc:subject>
  <dc:creator>ChatGPT</dc:creator>
  <cp:lastModifiedBy>Pham Viet An D24TX</cp:lastModifiedBy>
  <cp:revision>3</cp:revision>
  <dcterms:created xsi:type="dcterms:W3CDTF">2026-01-28T11:58:18Z</dcterms:created>
  <dcterms:modified xsi:type="dcterms:W3CDTF">2026-01-29T00:05:37Z</dcterms:modified>
</cp:coreProperties>
</file>